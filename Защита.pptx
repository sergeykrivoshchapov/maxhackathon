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Inter" panose="020B0604020202020204" charset="0"/>
      <p:regular r:id="rId22"/>
    </p:embeddedFont>
    <p:embeddedFont>
      <p:font typeface="Inter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789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816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max.ru/t627_hakaton_max_bo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45.132.176.239.nip.io/api" TargetMode="External"/><Relationship Id="rId4" Type="http://schemas.openxmlformats.org/officeDocument/2006/relationships/hyperlink" Target="https://github.com/SergeyKrivoshchapov/maxhackatho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7907"/>
            <a:ext cx="10868745" cy="424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Техническая информация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661475" y="1177627"/>
            <a:ext cx="1147833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Служебный слайд. В продуктовой оценке не участвует.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1510804"/>
            <a:ext cx="10868745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Доступ к решению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61475" y="1911945"/>
            <a:ext cx="10868745" cy="849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Ссылка на чат-бот / мини-приложение в MAX: 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/>
              </a:rPr>
              <a:t>https://max.ru/t627_hakaton_max_bot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Git-</a:t>
            </a:r>
            <a:r>
              <a:rPr lang="en-US" sz="1050" kern="0" spc="-21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репозиторий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r>
              <a:rPr lang="ru-RU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4"/>
              </a:rPr>
              <a:t>https://github.com/SergeyKrivoshchapov/maxhackathon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hash: [ПРОПУСК]</a:t>
            </a:r>
            <a:endParaRPr lang="en-US" sz="1050" dirty="0"/>
          </a:p>
          <a:p>
            <a:pPr marL="213360" indent="-213360" algn="l">
              <a:lnSpc>
                <a:spcPct val="115000"/>
              </a:lnSpc>
              <a:buSzPct val="100000"/>
              <a:buChar char="•"/>
            </a:pPr>
            <a:r>
              <a:rPr lang="en-US" sz="1050" kern="0" spc="-21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Собственный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API: 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5"/>
              </a:rPr>
              <a:t>https://45.132.176.239.nip.io/api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61475" y="2907705"/>
            <a:ext cx="10868745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Тестовые учётные записи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587198"/>
              </p:ext>
            </p:extLst>
          </p:nvPr>
        </p:nvGraphicFramePr>
        <p:xfrm>
          <a:off x="661475" y="3308846"/>
          <a:ext cx="10868745" cy="1294940"/>
        </p:xfrm>
        <a:graphic>
          <a:graphicData uri="http://schemas.openxmlformats.org/drawingml/2006/table">
            <a:tbl>
              <a:tblPr/>
              <a:tblGrid>
                <a:gridCol w="3586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6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53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96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Роль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Логин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Пароль/способ входа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8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Житель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Просто нужно войти в систему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MAX AUTH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8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kern="0" spc="-2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УК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dirty="0">
                          <a:latin typeface="Inter" charset="0"/>
                          <a:ea typeface="Inter" charset="0"/>
                          <a:cs typeface="Inter" charset="0"/>
                        </a:rPr>
                        <a:t>На странице профиля можно стать УК (потом это как то нужно обратить в процесс)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96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1050" dirty="0">
                          <a:latin typeface="Inter" charset="0"/>
                          <a:ea typeface="Inter" charset="0"/>
                          <a:cs typeface="Inter" charset="0"/>
                        </a:rPr>
                        <a:t>Админ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5857" marR="13585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61475" y="4753074"/>
            <a:ext cx="10868745" cy="254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4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Порядок проверки основного сценария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61475" y="5154216"/>
            <a:ext cx="10868745" cy="849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/>
            </a:pPr>
            <a:r>
              <a:rPr lang="ru-RU" sz="1200" dirty="0"/>
              <a:t>Создание заявки жителем</a:t>
            </a:r>
            <a:endParaRPr lang="en-US" sz="1200" dirty="0"/>
          </a:p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 startAt="2"/>
            </a:pPr>
            <a:r>
              <a:rPr lang="ru-RU" sz="1200" dirty="0"/>
              <a:t>Просмотр заявки УК</a:t>
            </a:r>
            <a:endParaRPr lang="en-US" sz="1200" dirty="0"/>
          </a:p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 startAt="3"/>
            </a:pPr>
            <a:r>
              <a:rPr lang="ru-RU" sz="1200" dirty="0"/>
              <a:t>Смена статуса и назначение</a:t>
            </a:r>
            <a:endParaRPr lang="en-US" sz="1200" dirty="0"/>
          </a:p>
          <a:p>
            <a:pPr marL="213360" indent="-213360" algn="l">
              <a:lnSpc>
                <a:spcPct val="115000"/>
              </a:lnSpc>
              <a:buSzPct val="100000"/>
              <a:buFont typeface="+mj-lt"/>
              <a:buAutoNum type="arabicPeriod" startAt="4"/>
            </a:pPr>
            <a:r>
              <a:rPr lang="ru-RU" sz="1200" dirty="0"/>
              <a:t>Обратная связь жителя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1475" y="6113363"/>
            <a:ext cx="11478330" cy="18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Тестовые данные </a:t>
            </a:r>
            <a:r>
              <a:rPr lang="en-US" sz="1050" kern="0" spc="-21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используются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ru-RU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системе</a:t>
            </a:r>
            <a:r>
              <a:rPr lang="en-US" sz="1050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3227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ru-RU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ЖКХ в </a:t>
            </a: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MAX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0094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Мини-приложение в MAX для подачи и обработки обращений жителей МКД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2586831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Команда</a:t>
            </a:r>
            <a:endParaRPr lang="en-US" sz="2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834329"/>
              </p:ext>
            </p:extLst>
          </p:nvPr>
        </p:nvGraphicFramePr>
        <p:xfrm>
          <a:off x="661475" y="3342779"/>
          <a:ext cx="10868745" cy="2470087"/>
        </p:xfrm>
        <a:graphic>
          <a:graphicData uri="http://schemas.openxmlformats.org/drawingml/2006/table">
            <a:tbl>
              <a:tblPr/>
              <a:tblGrid>
                <a:gridCol w="3622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9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Роль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Имя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Зона ответственности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Manager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Андрей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Продуктовая логика, презентация, документация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dirty="0" err="1">
                          <a:latin typeface="Inter" charset="0"/>
                          <a:ea typeface="Inter" charset="0"/>
                          <a:cs typeface="Inter" charset="0"/>
                        </a:rPr>
                        <a:t>FullStack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Илья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Мини-приложение в MAX, UI, API, CI/CD</a:t>
                      </a:r>
                      <a:r>
                        <a:rPr lang="ru-RU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БД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Backend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Сергей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Бот, API, данные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2866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Executive Summary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10737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Кратко о продукте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61475" y="1947863"/>
            <a:ext cx="5339820" cy="2311499"/>
          </a:xfrm>
          <a:prstGeom prst="roundRect">
            <a:avLst>
              <a:gd name="adj" fmla="val 343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6832" y="2143224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ПРОБЛЕМА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2551906"/>
            <a:ext cx="4949106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или арендатор квартиры в МКД, обнаружив проблему в доме, не знает, к кому обращаться — в УК, РСО или аварийную службу, — тратит время на звонки, а проблема остаётся без ответа.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90301" y="1947863"/>
            <a:ext cx="5339919" cy="2311499"/>
          </a:xfrm>
          <a:prstGeom prst="roundRect">
            <a:avLst>
              <a:gd name="adj" fmla="val 343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5658" y="2143224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РЕШЕНИЕ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85658" y="2551906"/>
            <a:ext cx="4949205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Мини-приложение в MAX, где житель подаёт обращение, а система автоматически определяет ответственную организацию и показывает статус решения.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61475" y="4448373"/>
            <a:ext cx="5339820" cy="1706662"/>
          </a:xfrm>
          <a:prstGeom prst="roundRect">
            <a:avLst>
              <a:gd name="adj" fmla="val 465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6832" y="4643735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ЭФФЕКТ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56832" y="5052417"/>
            <a:ext cx="49491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 подачи обращения сокращается с нескольких часов до 2–3 минут. У жителя есть номер, статус и ответ УК.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301" y="4448373"/>
            <a:ext cx="5339919" cy="1706662"/>
          </a:xfrm>
          <a:prstGeom prst="roundRect">
            <a:avLst>
              <a:gd name="adj" fmla="val 4652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5658" y="4643735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ФОРМАТ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6385658" y="5052417"/>
            <a:ext cx="494920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Zero-install мини-приложение внутри привычного мессенджера — без скачивания и сложной авторизации.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2159"/>
            <a:ext cx="10868745" cy="572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10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Пользователь и проблема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245295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Пользователь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661475" y="1968996"/>
            <a:ext cx="10868745" cy="576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kern="0" spc="-2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или арендатор квартиры в многоквартирном доме, который первым замечает проблему в доме: протечка, мусор, неисправность освещения.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1475" y="2811859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Проблема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61475" y="3535561"/>
            <a:ext cx="10868745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kern="0" spc="-2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в ситуации, когда обнаруживает проблему в подъезде, хочет быстро передать информацию ответственной организации и понимать статус её решения, но не знает, к кому обращаться — в УК, РСО или аварийную службу, — и в итоге тратит время на звонки, а проблема остаётся без ответа.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475" y="4666853"/>
            <a:ext cx="10868745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kern="0" spc="-87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Гипотеза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61475" y="5390555"/>
            <a:ext cx="10868745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kern="0" spc="-2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предполагаем, что жители готовы подавать заявки через мини-приложение в MAX, если путь от обнаружения проблемы до отправки обращения занимает меньше минуты и не требует авторизации, потому что существующие сервисы (Госуслуги.Дом, приложения УК) имеют высокий барьер входа и теряют пользователей на этапе установки и входа.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2847"/>
            <a:ext cx="10868745" cy="5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b="1" kern="0" spc="-10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Сравнение: Как сейчас и как с продуктом</a:t>
            </a:r>
            <a:endParaRPr lang="en-US" sz="3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1398588"/>
          <a:ext cx="10868746" cy="2792146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24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 (As Is)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 продуктом (To Be)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Житель ищет телефон УК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Открывает бота в MAX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Звонит, не дозванивается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Подаёт обращение за 2 минуты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Пишет в домовой чат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Обращение фиксируется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4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знает статус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Видит статус и срок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24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УК теряет заявки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УК видит заявки по категориям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298" marR="17129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61475" y="4436269"/>
            <a:ext cx="10868745" cy="428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Почему мини-приложение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661475" y="5097264"/>
            <a:ext cx="10868745" cy="1207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Zero-install: не нужно скачивать приложение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Импульсивные заявки: сфоткал — отправил в 3 клика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Контекстные уведомления: статус приходит в чат бота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Автоопределение организации — УТП продукта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7949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kern="0" spc="-9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Решение и основной сценарий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1475" y="1107777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Путь жителя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61475" y="1678880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61475" y="192067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03547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Открывает мини-приложение в MAX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928" y="1678880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928" y="192067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9" name="Text 7"/>
          <p:cNvSpPr/>
          <p:nvPr/>
        </p:nvSpPr>
        <p:spPr>
          <a:xfrm>
            <a:off x="4325928" y="203547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Нажимает «Подать обращение»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90382" y="1678880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90382" y="192067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2" name="Text 10"/>
          <p:cNvSpPr/>
          <p:nvPr/>
        </p:nvSpPr>
        <p:spPr>
          <a:xfrm>
            <a:off x="7990382" y="203547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Заполняет форму: тип, адрес, описание, фото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1475" y="2497931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1475" y="273972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5" name="Text 13"/>
          <p:cNvSpPr/>
          <p:nvPr/>
        </p:nvSpPr>
        <p:spPr>
          <a:xfrm>
            <a:off x="661475" y="2854523"/>
            <a:ext cx="3539739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Система присваивает номер и определяет ответственную организацию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25928" y="2497931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25928" y="273972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8" name="Text 16"/>
          <p:cNvSpPr/>
          <p:nvPr/>
        </p:nvSpPr>
        <p:spPr>
          <a:xfrm>
            <a:off x="4325928" y="285452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Получает подтверждение и номер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90382" y="2497931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90382" y="2739727"/>
            <a:ext cx="3539739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21" name="Text 19"/>
          <p:cNvSpPr/>
          <p:nvPr/>
        </p:nvSpPr>
        <p:spPr>
          <a:xfrm>
            <a:off x="7990382" y="2854523"/>
            <a:ext cx="353973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Проверяет статус в карточке обращения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475" y="3539629"/>
            <a:ext cx="307074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kern="0" spc="-36" dirty="0">
                <a:solidFill>
                  <a:srgbClr val="27252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1475" y="3781425"/>
            <a:ext cx="10868646" cy="1905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24" name="Text 22"/>
          <p:cNvSpPr/>
          <p:nvPr/>
        </p:nvSpPr>
        <p:spPr>
          <a:xfrm>
            <a:off x="661475" y="3896221"/>
            <a:ext cx="1086864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Видит ответ УК или причину отклонения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1475" y="4421088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Путь сотрудника УК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61475" y="4992191"/>
            <a:ext cx="10868745" cy="1287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Открывает главную УК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Видит заявки по категориям: Новое / В работе / Закрыто / Отклонено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Открывает карточку заявки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Принимает в работу: срок + ответственное лицо</a:t>
            </a:r>
            <a:endParaRPr lang="en-US" sz="1200" dirty="0"/>
          </a:p>
          <a:p>
            <a:pPr marL="243840" indent="-243840" algn="l">
              <a:lnSpc>
                <a:spcPct val="121000"/>
              </a:lnSpc>
              <a:buSzPct val="100000"/>
              <a:buChar char="•"/>
            </a:pPr>
            <a:r>
              <a:rPr lang="en-US" sz="1200" kern="0" spc="-2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Закрывает с ответом или отклоняет с причиной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1839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Скриншоты</a:t>
            </a:r>
            <a:r>
              <a:rPr lang="ru-RU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Жителя</a:t>
            </a:r>
            <a:endParaRPr lang="en-US" sz="295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3C106DD-6CC5-6E5C-7631-10201F5D1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824" y="1038820"/>
            <a:ext cx="2430352" cy="540078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6803720-3426-7CF8-C5FD-2F27EF779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584" y="1038820"/>
            <a:ext cx="2463010" cy="547335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1B3B58-7C56-3A84-297D-72E07BA42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1406" y="1038820"/>
            <a:ext cx="2463010" cy="54733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1839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Скриншоты</a:t>
            </a: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</a:t>
            </a:r>
            <a:r>
              <a:rPr lang="ru-RU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Управляющей компании</a:t>
            </a:r>
            <a:endParaRPr lang="en-US" sz="295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1FACDA7-32A4-4F2C-9932-F958FA0DC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694" y="979713"/>
            <a:ext cx="2557054" cy="568234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5786DB4-ED12-4F8B-9C34-25F72E9D6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9870" y="979713"/>
            <a:ext cx="2523270" cy="560726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1D737B0-D79A-4C50-BEA3-31F13AF4D7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9517" y="979713"/>
            <a:ext cx="2523271" cy="5607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258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2095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9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Ожидаемый эффект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158081"/>
            <a:ext cx="10868745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Гипотеза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661475" y="1803698"/>
            <a:ext cx="10868745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мы поможем собственнику подать обращение по проблеме в доме через чат-бота в MAX с автоматическим определением ответственной организации, то время до регистрации обращения сократится с нескольких часов до 2–3 минут, потому что пользователь не тратит время на поиск контактов и звонки.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61475" y="2792313"/>
            <a:ext cx="10868745" cy="4207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kern="0" spc="-8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Метрики</a:t>
            </a:r>
            <a:endParaRPr lang="en-US" sz="26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3437930"/>
          <a:ext cx="10868745" cy="2042864"/>
        </p:xfrm>
        <a:graphic>
          <a:graphicData uri="http://schemas.openxmlformats.org/drawingml/2006/table">
            <a:tbl>
              <a:tblPr/>
              <a:tblGrid>
                <a:gridCol w="3586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5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66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0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Метрика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Как измеряем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Ожидание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подачи обращения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Замер от открытия до отправки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Сокращение с часов до минут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Доля обращений с понятным статусом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Доля карточек с актуальным статусом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6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Доля пользователей, завершивших сценарий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Аналитика бота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kern="0" spc="-27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68344" marR="168344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475" y="5662216"/>
            <a:ext cx="10868745" cy="623590"/>
          </a:xfrm>
          <a:prstGeom prst="roundRect">
            <a:avLst>
              <a:gd name="adj" fmla="val 11338"/>
            </a:avLst>
          </a:prstGeom>
          <a:solidFill>
            <a:srgbClr val="DADBF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46" y="5878413"/>
            <a:ext cx="210338" cy="168275"/>
          </a:xfrm>
          <a:prstGeom prst="rect">
            <a:avLst/>
          </a:prstGeom>
        </p:spPr>
      </p:pic>
      <p:sp>
        <p:nvSpPr>
          <p:cNvPr id="6" name="Text 5"/>
          <p:cNvSpPr/>
          <p:nvPr/>
        </p:nvSpPr>
        <p:spPr>
          <a:xfrm>
            <a:off x="1208355" y="5854204"/>
            <a:ext cx="10763179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Примечание: метрики — гипотеза. Проверим на пилоте.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8836"/>
            <a:ext cx="10868745" cy="396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kern="0" spc="-7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Архитектура решения</a:t>
            </a:r>
            <a:endParaRPr lang="en-US" sz="2450" dirty="0"/>
          </a:p>
        </p:txBody>
      </p:sp>
      <p:sp>
        <p:nvSpPr>
          <p:cNvPr id="3" name="Text 1"/>
          <p:cNvSpPr/>
          <p:nvPr/>
        </p:nvSpPr>
        <p:spPr>
          <a:xfrm>
            <a:off x="661475" y="1096367"/>
            <a:ext cx="11478330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kern="0" spc="-2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Схема взаимодействия основных компонентов системы:</a:t>
            </a:r>
            <a:endParaRPr lang="en-US" sz="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044" y="1362174"/>
            <a:ext cx="7341607" cy="49668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10015" y="3306248"/>
            <a:ext cx="1336847" cy="9170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Поток обработки заявки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7407983" y="4912814"/>
            <a:ext cx="1988798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Чат‑бот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407983" y="5305455"/>
            <a:ext cx="1988798" cy="408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Навигация и уведомления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747190" y="4912814"/>
            <a:ext cx="1988797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обработки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747190" y="5305455"/>
            <a:ext cx="1988797" cy="408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Проверки и логика запросов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747190" y="1865264"/>
            <a:ext cx="1988797" cy="305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База данных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2747190" y="2257904"/>
            <a:ext cx="1988797" cy="612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Хранение заявок, пользователей, категорий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420720" y="1814485"/>
            <a:ext cx="1988798" cy="611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kern="0" spc="-5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Мини‑приложение MAX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7420720" y="2512815"/>
            <a:ext cx="1988798" cy="408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7000"/>
              </a:lnSpc>
              <a:buNone/>
            </a:pPr>
            <a:r>
              <a:rPr lang="en-US" sz="1500" kern="0" spc="-34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Ввод заявки и данных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6594"/>
            <a:ext cx="11478330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Роли: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661475" y="1110655"/>
            <a:ext cx="10868745" cy="6074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Житель → интерфейс жителя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Сотрудник УК → интерфейс УК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967210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Компоненты</a:t>
            </a:r>
            <a:endParaRPr lang="en-US" sz="2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886062"/>
              </p:ext>
            </p:extLst>
          </p:nvPr>
        </p:nvGraphicFramePr>
        <p:xfrm>
          <a:off x="661475" y="2659360"/>
          <a:ext cx="10868746" cy="2432785"/>
        </p:xfrm>
        <a:graphic>
          <a:graphicData uri="http://schemas.openxmlformats.org/drawingml/2006/table">
            <a:tbl>
              <a:tblPr/>
              <a:tblGrid>
                <a:gridCol w="3260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74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0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Компонент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Роль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Технология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Мини-приложение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UI жителя и УК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Next.js + MAX UI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Чат-бот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Навигация, уведомления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Next.js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Обработка заявок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Next.js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55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БД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Хранение данных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kern="0" spc="-28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charset="0"/>
                        </a:rPr>
                        <a:t>PostgreSQL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61475" y="5354042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Схема архитектуры</a:t>
            </a:r>
            <a:endParaRPr lang="en-US" sz="2750" dirty="0"/>
          </a:p>
        </p:txBody>
      </p:sp>
      <p:sp>
        <p:nvSpPr>
          <p:cNvPr id="7" name="Text 4"/>
          <p:cNvSpPr/>
          <p:nvPr/>
        </p:nvSpPr>
        <p:spPr>
          <a:xfrm>
            <a:off x="661475" y="6046192"/>
            <a:ext cx="11478330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ru-RU" sz="1350" kern="0" spc="-28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Микросервисная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8774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Данные и интеграции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854002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Что реально, а что модель</a:t>
            </a:r>
            <a:endParaRPr lang="en-US" sz="1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432745"/>
          <a:ext cx="10868746" cy="2709595"/>
        </p:xfrm>
        <a:graphic>
          <a:graphicData uri="http://schemas.openxmlformats.org/drawingml/2006/table">
            <a:tbl>
              <a:tblPr/>
              <a:tblGrid>
                <a:gridCol w="3260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0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7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Компонент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 MVP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Для масштабирования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адресов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Тестовые данные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ГИС ЖКХ / ФИАС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Ответственные организации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Тестовый список УК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Реформы ЖКХ / ГИС ЖКХ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Типы проблем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вручную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Нормативные справочники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9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Сроки рассмотрения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Вводит УК вручную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Нормативы по типам проблем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1475" y="5367734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Примечание: в MVP используются тестовые данные. Реальные интеграции — следующий этап после пилота.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7474"/>
            <a:ext cx="10868745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kern="0" spc="-105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Ограничения и риски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1207591"/>
            <a:ext cx="10868745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Что не вошло в MVP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661475" y="1788914"/>
            <a:ext cx="10868745" cy="1272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Интеграция с ГИС ЖКХ (используются тестовые данные)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Уведомления [УТОЧНИТЬ У КОМАНДЫ: если не успеваете]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Возможность оспорить закрытие обращения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Автоматическое определение ответственного лица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61475" y="3311029"/>
            <a:ext cx="10868745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Допущения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61475" y="3892352"/>
            <a:ext cx="10868745" cy="940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УК готова работать через MAX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Житель готов пользоваться ботом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Роль пользователя определяется [УТОЧНИТЬ У КОМАНДЫ]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61475" y="5081687"/>
            <a:ext cx="10868745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6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Риски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61475" y="5663009"/>
            <a:ext cx="10868745" cy="6074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реальной интеграции — данные модельные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Роль УК определяется вручную — не масштабируется без доработки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4401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Масштабирование и пилот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10271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Ядро и переменная часть</a:t>
            </a:r>
            <a:endParaRPr lang="en-US" sz="2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766219"/>
          <a:ext cx="10868746" cy="2734995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50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Ядро (не меняется)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Переменная часть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Логика сценария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Региональные справочники УК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Архитектура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Нормативные сроки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26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Модель данных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Интеграции с местными системами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50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UX-паттерн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kern="0" spc="-3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Роли участников</a:t>
                      </a:r>
                      <a:endParaRPr lang="en-US" sz="14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721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Источники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840831"/>
            <a:ext cx="10868745" cy="21449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Росстат — жилищные условия населения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ГИС ЖКХ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Жилищный кодекс РФ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Приказ Минстроя о взаимодействии через ГИС ЖКХ и MAX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5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Порядок рассмотрения обращений граждан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6"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Госуслуги. Решаем вместе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977</Words>
  <Application>Microsoft Office PowerPoint</Application>
  <PresentationFormat>Широкоэкранный</PresentationFormat>
  <Paragraphs>211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Inter</vt:lpstr>
      <vt:lpstr>Calibri</vt:lpstr>
      <vt:lpstr>Inter Bold</vt:lpstr>
      <vt:lpstr>Inter Light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Comper 123</cp:lastModifiedBy>
  <cp:revision>19</cp:revision>
  <dcterms:created xsi:type="dcterms:W3CDTF">2026-09-29T16:19:06Z</dcterms:created>
  <dcterms:modified xsi:type="dcterms:W3CDTF">2026-09-29T22:33:33Z</dcterms:modified>
</cp:coreProperties>
</file>